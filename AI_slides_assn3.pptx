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32daaed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32daaed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32daaed0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32daaed0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32daaed0a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32daaed0a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E_s1H2K2X3Og64RwEpXhDGpg0cLT1bYu/view" TargetMode="External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NTMnbinGlLcXzHSncamqLUvIoy2dfljT/view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914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Chess AI with Minimax and Alpha-Beta Pruning</a:t>
            </a:r>
            <a:endParaRPr b="1" sz="1900"/>
          </a:p>
        </p:txBody>
      </p:sp>
      <p:sp>
        <p:nvSpPr>
          <p:cNvPr id="55" name="Google Shape;55;p13"/>
          <p:cNvSpPr txBox="1"/>
          <p:nvPr/>
        </p:nvSpPr>
        <p:spPr>
          <a:xfrm>
            <a:off x="646100" y="990100"/>
            <a:ext cx="36510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Algorithms Implemented: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Minimax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Alpha-Beta Pruning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118325" y="990100"/>
            <a:ext cx="3000000" cy="28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Features: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Self-playing AI using classic game tree search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Custom evaluation function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Visualization and video generation using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pygame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OpenCV</a:t>
            </a:r>
            <a:b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100700" y="6376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Scoring Mechanism</a:t>
            </a:r>
            <a:endParaRPr b="1" sz="1500"/>
          </a:p>
        </p:txBody>
      </p:sp>
      <p:sp>
        <p:nvSpPr>
          <p:cNvPr id="62" name="Google Shape;62;p14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Evaluation Strategy</a:t>
            </a:r>
            <a:endParaRPr b="1" sz="2000"/>
          </a:p>
        </p:txBody>
      </p:sp>
      <p:sp>
        <p:nvSpPr>
          <p:cNvPr id="63" name="Google Shape;63;p14"/>
          <p:cNvSpPr txBox="1"/>
          <p:nvPr/>
        </p:nvSpPr>
        <p:spPr>
          <a:xfrm>
            <a:off x="100700" y="1549475"/>
            <a:ext cx="68142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Material Evaluation</a:t>
            </a:r>
            <a:r>
              <a:rPr lang="en" sz="1600">
                <a:solidFill>
                  <a:schemeClr val="dk1"/>
                </a:solidFill>
              </a:rPr>
              <a:t>: Each piece has a static value (e.g., Queen = 900).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Positional Evaluation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Uses Piece-Square Tables (e.g., central control is rewarded).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	Separate tables for middle and endgame for the king.</a:t>
            </a:r>
            <a:br>
              <a:rPr lang="en">
                <a:solidFill>
                  <a:schemeClr val="dk1"/>
                </a:solidFill>
              </a:rPr>
            </a:br>
            <a:r>
              <a:rPr b="1" lang="en">
                <a:solidFill>
                  <a:schemeClr val="dk1"/>
                </a:solidFill>
              </a:rPr>
              <a:t>Game State Handling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Checkmate → ±10000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Stalemate/Draws → 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Loops through all 64 squares: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Checks piece type and color.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Applies appropriate piece-square table and material score.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Minimax Algorithm</a:t>
            </a:r>
            <a:endParaRPr b="1" sz="2000"/>
          </a:p>
        </p:txBody>
      </p:sp>
      <p:sp>
        <p:nvSpPr>
          <p:cNvPr id="69" name="Google Shape;69;p15"/>
          <p:cNvSpPr txBox="1"/>
          <p:nvPr/>
        </p:nvSpPr>
        <p:spPr>
          <a:xfrm>
            <a:off x="0" y="696000"/>
            <a:ext cx="35568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Key Points: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Objective: Explore all possible move sequences up to a fixed depth to find the best move based on evaluation.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Approach: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Recursively simulate moves to a specified depth.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Alternate between maximizing (White) and minimizing (Black) player.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Use a static evaluation function at leaf nodes.</a:t>
            </a:r>
            <a:br>
              <a:rPr lang="en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  <p:pic>
        <p:nvPicPr>
          <p:cNvPr id="70" name="Google Shape;70;p15" title="minimax_depth3_gam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7000" y="626450"/>
            <a:ext cx="4346100" cy="43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831525"/>
            <a:ext cx="3802650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Alphabeta </a:t>
            </a:r>
            <a:r>
              <a:rPr b="1" lang="en" sz="2000">
                <a:solidFill>
                  <a:schemeClr val="dk1"/>
                </a:solidFill>
              </a:rPr>
              <a:t>Algorithm</a:t>
            </a:r>
            <a:endParaRPr b="1" sz="2000"/>
          </a:p>
        </p:txBody>
      </p:sp>
      <p:sp>
        <p:nvSpPr>
          <p:cNvPr id="77" name="Google Shape;77;p16"/>
          <p:cNvSpPr txBox="1"/>
          <p:nvPr/>
        </p:nvSpPr>
        <p:spPr>
          <a:xfrm>
            <a:off x="0" y="696000"/>
            <a:ext cx="40677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Alpha-Beta Pruning: Efficient Minimax Search</a:t>
            </a:r>
            <a:endParaRPr i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Key Points: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Improvement over Minimax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Prunes branches that don't affect the final decision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Same results as Minimax, but </a:t>
            </a:r>
            <a:r>
              <a:rPr b="1" lang="en" sz="1100">
                <a:solidFill>
                  <a:schemeClr val="dk1"/>
                </a:solidFill>
              </a:rPr>
              <a:t>much faster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it works: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Maintains two values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α</a:t>
            </a:r>
            <a:r>
              <a:rPr lang="en" sz="1100">
                <a:solidFill>
                  <a:schemeClr val="dk1"/>
                </a:solidFill>
              </a:rPr>
              <a:t> (Alpha): Best value for maximizer so far</a:t>
            </a:r>
            <a:endParaRPr sz="1100"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β</a:t>
            </a:r>
            <a:r>
              <a:rPr lang="en" sz="1100">
                <a:solidFill>
                  <a:schemeClr val="dk1"/>
                </a:solidFill>
              </a:rPr>
              <a:t> (Beta): Best value for minimizer so far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>
                <a:solidFill>
                  <a:schemeClr val="dk1"/>
                </a:solidFill>
              </a:rPr>
              <a:t>Stops evaluating a branch when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α ≥ β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Enhancement:</a:t>
            </a:r>
            <a:r>
              <a:rPr lang="en" sz="1100">
                <a:solidFill>
                  <a:schemeClr val="dk1"/>
                </a:solidFill>
              </a:rPr>
              <a:t> Move ordering heuristic (captures &amp; checks first) improves pruning efficiency.</a:t>
            </a:r>
            <a:br>
              <a:rPr lang="en" sz="11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  <p:pic>
        <p:nvPicPr>
          <p:cNvPr id="78" name="Google Shape;78;p16" title="alpha-beta_depth3_gam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6950" y="570725"/>
            <a:ext cx="4346100" cy="434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300" y="3713950"/>
            <a:ext cx="3371926" cy="14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